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77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3775EB"/>
                </a:solidFill>
                <a:latin typeface="Aptos"/>
              </a:defRPr>
            </a:pPr>
            <a:r>
              <a:t>ITServicePro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6FC"/>
                </a:solidFill>
                <a:latin typeface="Aptos"/>
              </a:defRPr>
            </a:pPr>
            <a:r>
              <a:t>IT Services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9260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B2C0D3"/>
                </a:solidFill>
                <a:latin typeface="Aptos"/>
              </a:defRPr>
            </a:pPr>
            <a:r>
              <a:t>A centralized dashboard for managing support tickets,</a:t>
            </a:r>
            <a:br/>
            <a:r>
              <a:t>service requests, IT assets, clients, and knowledge.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006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EBFF"/>
                </a:solidFill>
                <a:latin typeface="Aptos"/>
              </a:defRPr>
            </a:pPr>
            <a:r>
              <a:t>Mini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230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2C0D3"/>
                </a:solidFill>
                <a:latin typeface="Aptos"/>
              </a:defRPr>
            </a:pPr>
            <a:r>
              <a:t>Presented by: ____________________   |   Department: 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2C0D3"/>
                </a:solidFill>
                <a:latin typeface="Aptos"/>
              </a:defRPr>
            </a:pPr>
            <a:r>
              <a:t>ITServicePro  |  IT Services Management Portal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2C0D3"/>
                </a:solidFill>
                <a:latin typeface="Aptos"/>
              </a:defRPr>
            </a:pPr>
            <a:r>
              <a:t>Why a unified IT service portal is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775EB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166360" cy="34747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IT issues may be reported through scattered messages or manual communication.</a:t>
            </a:r>
          </a:p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Tracking ticket status and ownership can be difficult.</a:t>
            </a:r>
          </a:p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Hardware assets, clients, and service requests may be recorded separately.</a:t>
            </a:r>
          </a:p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Managers need a quick view of workload and service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775EB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11680"/>
            <a:ext cx="5166360" cy="34747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Provide one interface for common IT support operations.</a:t>
            </a:r>
          </a:p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Create, search, resolve, and delete support tickets.</a:t>
            </a:r>
          </a:p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Record service requests, IT assets, and client details.</a:t>
            </a:r>
          </a:p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Display summary statistics and support CSV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2C0D3"/>
                </a:solidFill>
                <a:latin typeface="Aptos"/>
              </a:defRPr>
            </a:pPr>
            <a:r>
              <a:t>ITServicePro  |  IT Services Management Portal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2C0D3"/>
                </a:solidFill>
                <a:latin typeface="Aptos"/>
              </a:defRPr>
            </a:pPr>
            <a:r>
              <a:t>High-level workflow of the ITServicePro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607040" cy="685800"/>
          </a:xfrm>
          <a:prstGeom prst="roundRect">
            <a:avLst/>
          </a:prstGeom>
          <a:solidFill>
            <a:srgbClr val="1C293B"/>
          </a:solidFill>
          <a:ln>
            <a:solidFill>
              <a:srgbClr val="37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27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775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6FC"/>
                </a:solidFill>
                <a:latin typeface="Aptos"/>
              </a:defRPr>
            </a:pPr>
            <a:r>
              <a:t>Administrator /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50876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2C0D3"/>
                </a:solidFill>
                <a:latin typeface="Aptos"/>
              </a:defRPr>
            </a:pPr>
            <a:r>
              <a:t>Opens the portal and selects a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50008"/>
            <a:ext cx="10607040" cy="685800"/>
          </a:xfrm>
          <a:prstGeom prst="roundRect">
            <a:avLst/>
          </a:prstGeom>
          <a:solidFill>
            <a:srgbClr val="1C293B"/>
          </a:solidFill>
          <a:ln>
            <a:solidFill>
              <a:srgbClr val="37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5973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775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414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6FC"/>
                </a:solidFill>
                <a:latin typeface="Aptos"/>
              </a:defRPr>
            </a:pPr>
            <a:r>
              <a:t>Web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441448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2C0D3"/>
                </a:solidFill>
                <a:latin typeface="Aptos"/>
              </a:defRPr>
            </a:pPr>
            <a:r>
              <a:t>Forms, tables, navigation, and dashboard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82696"/>
            <a:ext cx="10607040" cy="685800"/>
          </a:xfrm>
          <a:prstGeom prst="roundRect">
            <a:avLst/>
          </a:prstGeom>
          <a:solidFill>
            <a:srgbClr val="1C293B"/>
          </a:solidFill>
          <a:ln>
            <a:solidFill>
              <a:srgbClr val="37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924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775E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3741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6FC"/>
                </a:solidFill>
                <a:latin typeface="Aptos"/>
              </a:defRPr>
            </a:pPr>
            <a:r>
              <a:t>Application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374136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2C0D3"/>
                </a:solidFill>
                <a:latin typeface="Aptos"/>
              </a:defRPr>
            </a:pPr>
            <a:r>
              <a:t>Validates input and handles create/update/delete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15384"/>
            <a:ext cx="10607040" cy="685800"/>
          </a:xfrm>
          <a:prstGeom prst="roundRect">
            <a:avLst/>
          </a:prstGeom>
          <a:solidFill>
            <a:srgbClr val="1C293B"/>
          </a:solidFill>
          <a:ln>
            <a:solidFill>
              <a:srgbClr val="37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251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775E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068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6FC"/>
                </a:solidFill>
                <a:latin typeface="Aptos"/>
              </a:defRPr>
            </a:pPr>
            <a:r>
              <a:t>Data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306824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2C0D3"/>
                </a:solidFill>
                <a:latin typeface="Aptos"/>
              </a:defRPr>
            </a:pPr>
            <a:r>
              <a:t>Stores tickets, requests, assets, and client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48072"/>
            <a:ext cx="10607040" cy="685800"/>
          </a:xfrm>
          <a:prstGeom prst="roundRect">
            <a:avLst/>
          </a:prstGeom>
          <a:solidFill>
            <a:srgbClr val="1C293B"/>
          </a:solidFill>
          <a:ln>
            <a:solidFill>
              <a:srgbClr val="37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57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775E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239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F6FC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239512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2C0D3"/>
                </a:solidFill>
                <a:latin typeface="Aptos"/>
              </a:defRPr>
            </a:pPr>
            <a:r>
              <a:t>Calculates totals and exports ticket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2C0D3"/>
                </a:solidFill>
                <a:latin typeface="Aptos"/>
              </a:defRPr>
            </a:pPr>
            <a:r>
              <a:t>ITServicePro  |  IT Services Management Portal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2C0D3"/>
                </a:solidFill>
                <a:latin typeface="Aptos"/>
              </a:defRPr>
            </a:pPr>
            <a:r>
              <a:t>Summary cards and recent-ticket table</a:t>
            </a:r>
          </a:p>
        </p:txBody>
      </p:sp>
      <p:pic>
        <p:nvPicPr>
          <p:cNvPr id="4" name="Picture 3" descr="10000995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21" y="1325880"/>
            <a:ext cx="10324476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2C0D3"/>
                </a:solidFill>
                <a:latin typeface="Aptos"/>
              </a:defRPr>
            </a:pPr>
            <a:r>
              <a:t>ITServicePro  |  IT Services Management Portal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Service Catalog &amp; Ticket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2C0D3"/>
                </a:solidFill>
                <a:latin typeface="Aptos"/>
              </a:defRPr>
            </a:pPr>
            <a:r>
              <a:t>Browse support categories and manage issue lifecycle</a:t>
            </a:r>
          </a:p>
        </p:txBody>
      </p:sp>
      <p:pic>
        <p:nvPicPr>
          <p:cNvPr id="4" name="Picture 3" descr="10000995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679"/>
            <a:ext cx="5394960" cy="2880121"/>
          </a:xfrm>
          <a:prstGeom prst="rect">
            <a:avLst/>
          </a:prstGeom>
        </p:spPr>
      </p:pic>
      <p:pic>
        <p:nvPicPr>
          <p:cNvPr id="5" name="Picture 4" descr="100009959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0731"/>
            <a:ext cx="5394960" cy="27080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2C0D3"/>
                </a:solidFill>
                <a:latin typeface="Aptos"/>
              </a:defRPr>
            </a:pPr>
            <a:r>
              <a:t>ITServicePro  |  IT Services Management Portal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Service Requests &amp; Asset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2C0D3"/>
                </a:solidFill>
                <a:latin typeface="Aptos"/>
              </a:defRPr>
            </a:pPr>
            <a:r>
              <a:t>Capture service needs and maintain an inventory</a:t>
            </a:r>
          </a:p>
        </p:txBody>
      </p:sp>
      <p:pic>
        <p:nvPicPr>
          <p:cNvPr id="4" name="Picture 3" descr="10000995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33314"/>
            <a:ext cx="5394960" cy="2802850"/>
          </a:xfrm>
          <a:prstGeom prst="rect">
            <a:avLst/>
          </a:prstGeom>
        </p:spPr>
      </p:pic>
      <p:pic>
        <p:nvPicPr>
          <p:cNvPr id="5" name="Picture 4" descr="100009959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33314"/>
            <a:ext cx="5394960" cy="2802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2C0D3"/>
                </a:solidFill>
                <a:latin typeface="Aptos"/>
              </a:defRPr>
            </a:pPr>
            <a:r>
              <a:t>ITServicePro  |  IT Services Management Portal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Client Management &amp; 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2C0D3"/>
                </a:solidFill>
                <a:latin typeface="Aptos"/>
              </a:defRPr>
            </a:pPr>
            <a:r>
              <a:t>Maintain client contacts and provide self-help guidance</a:t>
            </a:r>
          </a:p>
        </p:txBody>
      </p:sp>
      <p:pic>
        <p:nvPicPr>
          <p:cNvPr id="4" name="Picture 3" descr="10000995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06972"/>
            <a:ext cx="5394960" cy="2855535"/>
          </a:xfrm>
          <a:prstGeom prst="rect">
            <a:avLst/>
          </a:prstGeom>
        </p:spPr>
      </p:pic>
      <p:pic>
        <p:nvPicPr>
          <p:cNvPr id="5" name="Picture 4" descr="100009959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08830"/>
            <a:ext cx="5394960" cy="26518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2C0D3"/>
                </a:solidFill>
                <a:latin typeface="Aptos"/>
              </a:defRPr>
            </a:pPr>
            <a:r>
              <a:t>ITServicePro  |  IT Services Management Portal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Reports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2C0D3"/>
                </a:solidFill>
                <a:latin typeface="Aptos"/>
              </a:defRPr>
            </a:pPr>
            <a:r>
              <a:t>At-a-glance metrics and ticket export</a:t>
            </a:r>
          </a:p>
        </p:txBody>
      </p:sp>
      <p:pic>
        <p:nvPicPr>
          <p:cNvPr id="4" name="Picture 3" descr="10000995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520" y="1325880"/>
            <a:ext cx="9514479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2C0D3"/>
                </a:solidFill>
                <a:latin typeface="Aptos"/>
              </a:defRPr>
            </a:pPr>
            <a:r>
              <a:t>ITServicePro  |  IT Services Management Portal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Next Steps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2C0D3"/>
                </a:solidFill>
                <a:latin typeface="Aptos"/>
              </a:defRPr>
            </a:pPr>
            <a:r>
              <a:t>Recommended work to move from a polished prototype to a reliable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Connect a persistent database such as SQLite or MySQL so records remain after refresh/restart.</a:t>
            </a:r>
          </a:p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Add secure login, role-based access, and password hashing.</a:t>
            </a:r>
          </a:p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Validate all form fields and prevent duplicate serial numbers or invalid contact details.</a:t>
            </a:r>
          </a:p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Add ticket editing, assignment, comments, timestamps, and priority/status filters.</a:t>
            </a:r>
          </a:p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Make dashboard metrics update automatically from stored records.</a:t>
            </a:r>
          </a:p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Test every button, empty form, invalid input, delete confirmation, and CSV export.</a:t>
            </a:r>
          </a:p>
          <a:p>
            <a:pPr>
              <a:spcAft>
                <a:spcPts val="1200"/>
              </a:spcAft>
              <a:defRPr sz="1700">
                <a:solidFill>
                  <a:srgbClr val="F2F6FC"/>
                </a:solidFill>
                <a:latin typeface="Aptos"/>
              </a:defRPr>
            </a:pPr>
            <a:r>
              <a:t>•  Improve accessibility and responsive layout for mobile and tablet screens.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2C0D3"/>
                </a:solidFill>
                <a:latin typeface="Aptos"/>
              </a:defRPr>
            </a:pPr>
            <a:r>
              <a:t>ITServicePro  |  IT Services Management Portal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3775E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2F6FC"/>
                </a:solidFill>
                <a:latin typeface="Aptos"/>
              </a:defRPr>
            </a:pPr>
            <a:r>
              <a:t>ITServicePro brings common IT support activities into a single portal. The current interface demonstrates ticket tracking, service requests, asset and client records, a knowledge base, and reporting. The next priority is to verify the workflows end-to-end and connect secure persistent storage so the dashboard reflects real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09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0EB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2C0D3"/>
                </a:solidFill>
                <a:latin typeface="Aptos"/>
              </a:defRPr>
            </a:pPr>
            <a:r>
              <a:t>ITServicePro  |  IT Services Management Portal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